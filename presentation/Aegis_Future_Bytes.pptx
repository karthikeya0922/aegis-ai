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 rot="10800000">
            <a:off x="822960" y="731520"/>
            <a:ext cx="1051560" cy="1234440"/>
          </a:xfrm>
          <a:prstGeom prst="homePlate">
            <a:avLst/>
          </a:prstGeom>
          <a:solidFill>
            <a:srgbClr val="06B6D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 rot="5400000">
            <a:off x="1078992" y="1143000"/>
            <a:ext cx="502920" cy="50292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Segoe UI Semibold"/>
              </a:rPr>
              <a:t>AEGIS</a:t>
            </a:r>
            <a:r>
              <a:rPr sz="2600" b="0" i="0">
                <a:solidFill>
                  <a:srgbClr val="06B6D4"/>
                </a:solidFill>
                <a:latin typeface="Segoe UI"/>
              </a:rPr>
              <a:t>  :: Zero-Trust Responsible AI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2E8F0"/>
                </a:solidFill>
                <a:latin typeface="Segoe UI"/>
              </a:rPr>
              <a:t>A Security &amp; Governance Platform Built by Team Future Bytes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39"/>
            <a:ext cx="10607040" cy="822960"/>
          </a:xfrm>
          <a:prstGeom prst="rect">
            <a:avLst/>
          </a:prstGeom>
          <a:solidFill>
            <a:srgbClr val="11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5080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 i="1">
                <a:solidFill>
                  <a:srgbClr val="FFFFFF"/>
                </a:solidFill>
                <a:latin typeface="Segoe UI"/>
              </a:rPr>
              <a:t>“ Never trust the user input, and never blindly trust the LLM output. 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29200"/>
            <a:ext cx="5074920" cy="1417320"/>
          </a:xfrm>
          <a:prstGeom prst="rect">
            <a:avLst/>
          </a:prstGeom>
          <a:solidFill>
            <a:srgbClr val="111C3A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38928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50">
                <a:solidFill>
                  <a:srgbClr val="06B6D4"/>
                </a:solidFill>
                <a:latin typeface="Segoe UI"/>
              </a:rPr>
              <a:t>THE BRAIN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Python + FastAPI inspection microservice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E2E8F0"/>
                </a:solidFill>
                <a:latin typeface="Segoe UI"/>
              </a:rPr>
              <a:t>Threat detection, NLP analysis, and policy enforcement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029200"/>
            <a:ext cx="5074920" cy="1417320"/>
          </a:xfrm>
          <a:prstGeom prst="rect">
            <a:avLst/>
          </a:prstGeom>
          <a:solidFill>
            <a:srgbClr val="111C3A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138928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150">
                <a:solidFill>
                  <a:srgbClr val="10B981"/>
                </a:solidFill>
                <a:latin typeface="Segoe UI"/>
              </a:rPr>
              <a:t>THE COCKPIT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Next.js + TypeScript orchestration layer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E2E8F0"/>
                </a:solidFill>
                <a:latin typeface="Segoe UI"/>
              </a:rPr>
              <a:t>API routing, caching, and real-time visual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8A97AB"/>
                </a:solidFill>
                <a:latin typeface="Segoe UI"/>
              </a:rPr>
              <a:t>Project: Aegis   |   Team: Future Bytes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WHY AEGIS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7640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74800"/>
            <a:ext cx="10625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 i="0">
                <a:solidFill>
                  <a:srgbClr val="0B1227"/>
                </a:solidFill>
                <a:latin typeface="Segoe UI Semibold"/>
              </a:rPr>
              <a:t>Data Loss Prevention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  Guarantee that raw secrets (API keys) and sensitive PII never leave the enterprise boundary unredacted.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0908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7488"/>
            <a:ext cx="10625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 i="0">
                <a:solidFill>
                  <a:srgbClr val="0B1227"/>
                </a:solidFill>
                <a:latin typeface="Segoe UI Semibold"/>
              </a:rPr>
              <a:t>AI Attack Mitigation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  Identify and block known prompt-injection and jailbreak patterns before they reach the LLM.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417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40176"/>
            <a:ext cx="10625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 i="0">
                <a:solidFill>
                  <a:srgbClr val="0B1227"/>
                </a:solidFill>
                <a:latin typeface="Segoe UI Semibold"/>
              </a:rPr>
              <a:t>Cost &amp; Performance Optimization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  Reduce LLM API bills and response times through semantic caching and complexity-based routing.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7446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72864"/>
            <a:ext cx="10625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 i="0">
                <a:solidFill>
                  <a:srgbClr val="0B1227"/>
                </a:solidFill>
                <a:latin typeface="Segoe UI Semibold"/>
              </a:rPr>
              <a:t>Resilience &amp; Availability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  Keep AI applications responsive through automated failover and circuit breakers across providers.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07152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305552"/>
            <a:ext cx="10625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 i="0">
                <a:solidFill>
                  <a:srgbClr val="0B1227"/>
                </a:solidFill>
                <a:latin typeface="Segoe UI Semibold"/>
              </a:rPr>
              <a:t>Total Transparency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  Give security teams a glass-box dashboard to audit every pipeline decision, in real time and after the fact.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FEATURE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Real-Time Threat Detection &amp; Sanitization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2212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0520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Multi-Vector Scanning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Scans incoming prompts for PII (emails, phone numbers, IPs, card-like numbers) and pattern-matched secrets (AWS keys, GitHub tokens, database URIs).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624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44648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Dynamic Policy Engine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Configurable rules resolve each finding to ALLOW, WARN, SANITIZE, or BLOCK -- detection and policy are kept as separate layers.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703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68776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Tokenized Redaction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Swaps sensitive data for safe placeholders (e.g. [AWS_KEY_1], [EMAIL_1]) before the prompt ever reaches the LLM provider.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9450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2904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Session-Scoped Vault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Maps placeholders back to original values only for the request's lifetime, in memory/Redis with a short TTL -- secrets are never rehydrated.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600200"/>
            <a:ext cx="3794760" cy="448056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6B6D4"/>
                </a:solidFill>
                <a:latin typeface="Segoe UI"/>
              </a:rPr>
              <a:t>PIPELINE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Prompt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15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PII 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3558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Secret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959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Policy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6360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Sanitized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532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>
                <a:solidFill>
                  <a:srgbClr val="E2E8F0"/>
                </a:solidFill>
                <a:latin typeface="Segoe UI"/>
              </a:rPr>
              <a:t>Every stage reports a measured duration and a plain-language reason for its decision.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FEATURE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Prompt Injection &amp; Jailbreak Defense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2212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0520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Heuristic Pattern Detection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Flags known attack vectors such as instruction-override phrasing, system-prompt extraction attempts, and DAN-style jailbreaks.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624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44648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Pre-emptive Blocking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Returns an immediate HTTP 403 on detection, stopping the attack at the gateway before it reaches the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703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68776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Model Protection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Reduces the chance of adversaries exfiltrating system instructions or steering the LLM into unsafe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9450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2904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Human-in-the-Loop Appeal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A blocked user can request human review with a justification; approval mints a single-use override token -- automated blocks stay contestable.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818632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717032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Honestly Scoped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Documented as heuristic defense against known OWASP LLM01 patterns -- not a claim of catching every jailbreak.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600200"/>
            <a:ext cx="3794760" cy="448056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6B6D4"/>
                </a:solidFill>
                <a:latin typeface="Segoe UI"/>
              </a:rPr>
              <a:t>PIPELINE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Prompt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15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Injection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3558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Score &gt;= 0.75?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9959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BLOCK (403)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6360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Appeal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532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>
                <a:solidFill>
                  <a:srgbClr val="E2E8F0"/>
                </a:solidFill>
                <a:latin typeface="Segoe UI"/>
              </a:rPr>
              <a:t>Credential leaks are never appealable. Injection blocks are -- a human can approve an override.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FEATURE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Semantic Redis Caching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2212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0520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Vector Similarity Search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Converts prompts into embeddings (sentence-transformers) and compares them against prior requests stored in Redis.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624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44648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Smart Thresholds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A prompt that is worded differently but semantically similar (cosine &gt;= 0.92) to a prior query can be served from cache.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703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68776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Negation-Safe Matching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Guards on negation, numbers, and named entities before serving a hit -- 'is X safe' and 'is X unsafe' must never be confused.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9450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2904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Low-Latency Hits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Bypasses the LLM entirely on a cache hit, cutting response time from hundreds of milliseconds to single digits.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818632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717032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Cost Reduction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Avoids paying provider token fees for repeated or near-duplicate queries -- tenant-namespaced so no cache is shared across customers.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600200"/>
            <a:ext cx="3794760" cy="448056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6B6D4"/>
                </a:solidFill>
                <a:latin typeface="Segoe UI"/>
              </a:rPr>
              <a:t>PIPELINE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Prompt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15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Embed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3558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Cosine &gt;= 0.92?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9959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Cache HIT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6360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Cache MISS -&gt;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532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>
                <a:solidFill>
                  <a:srgbClr val="E2E8F0"/>
                </a:solidFill>
                <a:latin typeface="Segoe UI"/>
              </a:rPr>
              <a:t>Estimated $ and cache-hit rate are shown with the assumption stated -- never presented as guarantees.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FEATURE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Smart Routing &amp; Automated Failover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2212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0520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Dynamic Model Routing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Routes simple tasks to cost-effective models (e.g. a local Ollama model) and complex reasoning to a premium model -- no model name hardcoded in source.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624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44648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Circuit Breaker Protocol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Tracks provider health continuously across CLOSED / OPEN / HALF-OPEN states.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703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68776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Automated Failover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On a timeout (2.5s default), a 503, or a 429 from the primary provider, the breaker opens and traffic redirects to a configured secondary.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9450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2904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Continuity Under Outage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The client application keeps functioning through a provider outage instead of surfacing an error to the end user.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600200"/>
            <a:ext cx="3794760" cy="448056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6B6D4"/>
                </a:solidFill>
                <a:latin typeface="Segoe UI"/>
              </a:rPr>
              <a:t>PIPELINE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15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Primary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3558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Timeout / 503?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959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Circuit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6360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Secondary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532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>
                <a:solidFill>
                  <a:srgbClr val="E2E8F0"/>
                </a:solidFill>
                <a:latin typeface="Segoe UI"/>
              </a:rPr>
              <a:t>Failover events are recorded and surfaced in provider metrics -- not hidden from the audit trail.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FEATURE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“Cockpit” Dashboard &amp; Live Inspector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2212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0520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Real-Time Pipeline View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Visualizes the exact journey of a request: Input -&gt; PII Scan -&gt; Secret Scan -&gt; Cache -&gt; Router -&gt; LLM -&gt; Response.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46248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44648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Sanitization Visualizer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Shows what Aegis redacted from the original prompt, without ever rendering the raw secret to the screen.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70376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68776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Comprehensive Audit Logging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Tracks latency, provider used, estimated token cost, estimated energy/CO2, and every policy action taken -- each figure labeled with its basis.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94504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692904"/>
            <a:ext cx="6601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0B1227"/>
                </a:solidFill>
                <a:latin typeface="Segoe UI Semibold"/>
              </a:rPr>
              <a:t>Role-Separated Access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Viewer sees aggregates only; reviewer adds the appeal queue; admin adds per-request drill-down -- Aegis constrains its own visibility into every prompt.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600200"/>
            <a:ext cx="3794760" cy="448056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6B6D4"/>
                </a:solidFill>
                <a:latin typeface="Segoe UI"/>
              </a:rPr>
              <a:t>PIPELINE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1576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8036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PII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3558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52044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Secret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9592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16052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Cache / Router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6360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Segoe U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solidFill>
            <a:srgbClr val="111C3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800600"/>
            <a:ext cx="3246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LLM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532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>
                <a:solidFill>
                  <a:srgbClr val="E2E8F0"/>
                </a:solidFill>
                <a:latin typeface="Segoe UI"/>
              </a:rPr>
              <a:t>A redacting log filter also scrubs Aegis's own server logs -- the tool that blocks leaks cannot leak either.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00">
                <a:solidFill>
                  <a:srgbClr val="06B6D4"/>
                </a:solidFill>
                <a:latin typeface="Segoe UI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Real-World Enterprise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257800" cy="1691640"/>
          </a:xfrm>
          <a:prstGeom prst="rect">
            <a:avLst/>
          </a:prstGeom>
          <a:solidFill>
            <a:srgbClr val="F7F9FC"/>
          </a:solidFill>
          <a:ln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0800" cy="1691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B1227"/>
                </a:solidFill>
                <a:latin typeface="Segoe UI Semibold"/>
              </a:rPr>
              <a:t>Regulatory Support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475569"/>
                </a:solidFill>
                <a:latin typeface="Segoe UI"/>
              </a:rPr>
              <a:t>Helps organizations in healthcare and finance adopt generative AI while supporting their own HIPAA, GDPR, and internal risk-management obligations.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257800" cy="1691640"/>
          </a:xfrm>
          <a:prstGeom prst="rect">
            <a:avLst/>
          </a:prstGeom>
          <a:solidFill>
            <a:srgbClr val="F7F9FC"/>
          </a:solidFill>
          <a:ln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0800" cy="1691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92024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B1227"/>
                </a:solidFill>
                <a:latin typeface="Segoe UI Semibold"/>
              </a:rPr>
              <a:t>Brand Protection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475569"/>
                </a:solidFill>
                <a:latin typeface="Segoe UI"/>
              </a:rPr>
              <a:t>Reduces the risk of a public-facing AI assistant being hijacked into revealing internal data or producing off-brand responses.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5257800" cy="1691640"/>
          </a:xfrm>
          <a:prstGeom prst="rect">
            <a:avLst/>
          </a:prstGeom>
          <a:solidFill>
            <a:srgbClr val="F7F9FC"/>
          </a:solidFill>
          <a:ln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50800" cy="1691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8620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B1227"/>
                </a:solidFill>
                <a:latin typeface="Segoe UI Semibold"/>
              </a:rPr>
              <a:t>Predictable AI Budgets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475569"/>
                </a:solidFill>
                <a:latin typeface="Segoe UI"/>
              </a:rPr>
              <a:t>Semantic caching smooths sudden spikes in LLM spend caused by traffic surges or repetitive queries.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657600"/>
            <a:ext cx="5257800" cy="1691640"/>
          </a:xfrm>
          <a:prstGeom prst="rect">
            <a:avLst/>
          </a:prstGeom>
          <a:solidFill>
            <a:srgbClr val="F7F9FC"/>
          </a:solidFill>
          <a:ln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50800" cy="1691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886200"/>
            <a:ext cx="4709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B1227"/>
                </a:solidFill>
                <a:latin typeface="Segoe UI Semibold"/>
              </a:rPr>
              <a:t>Vendor Agnosticism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475569"/>
                </a:solidFill>
                <a:latin typeface="Segoe UI"/>
              </a:rPr>
              <a:t>Reduces lock-in -- an application can move between OpenAI, Anthropic, and open-source models behind one stable API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Zero-Trust Responsible AI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Generative AI is powerful, but direct LLM integrations are exposed to data leaks, provider outages, and prompt manipulation.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10881360" cy="960120"/>
          </a:xfrm>
          <a:prstGeom prst="rect">
            <a:avLst/>
          </a:prstGeom>
          <a:solidFill>
            <a:srgbClr val="11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508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Aegis, built by Team Future Bytes, acts as a zero-trust checkpoint for enterprise AI traffic -- inspecting what goes out and what comes back, and holding its own decisions to the same standard of accountability it enforces.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3502152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5080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544568"/>
            <a:ext cx="313639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0B1227"/>
                </a:solidFill>
                <a:latin typeface="Segoe UI"/>
              </a:rPr>
              <a:t>Python Security Engine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Segoe UI"/>
              </a:rPr>
              <a:t>Detection, policy,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4434840"/>
            <a:ext cx="3502152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4434840"/>
            <a:ext cx="5080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544568"/>
            <a:ext cx="313639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0B1227"/>
                </a:solidFill>
                <a:latin typeface="Segoe UI"/>
              </a:rPr>
              <a:t>Next.js API Gateway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Segoe UI"/>
              </a:rPr>
              <a:t>Routing, caching, observability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4434840"/>
            <a:ext cx="3502152" cy="1371600"/>
          </a:xfrm>
          <a:prstGeom prst="rect">
            <a:avLst/>
          </a:prstGeom>
          <a:solidFill>
            <a:srgbClr val="F4F7FB"/>
          </a:solidFill>
          <a:ln w="9525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4434840"/>
            <a:ext cx="5080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544568"/>
            <a:ext cx="3136392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0B1227"/>
                </a:solidFill>
                <a:latin typeface="Segoe UI"/>
              </a:rPr>
              <a:t>Result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Segoe UI"/>
              </a:rPr>
              <a:t>Faster, safer, auditable AI in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9CA9BD"/>
                </a:solidFill>
                <a:latin typeface="Segoe UI"/>
              </a:rPr>
              <a:t>AEGIS  ·  Team Future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6539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A9BD"/>
                </a:solidFill>
                <a:latin typeface="Segoe U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